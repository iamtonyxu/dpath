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6" r:id="rId3"/>
    <p:sldId id="264" r:id="rId4"/>
    <p:sldId id="265" r:id="rId5"/>
    <p:sldId id="266" r:id="rId6"/>
    <p:sldId id="267" r:id="rId7"/>
    <p:sldId id="262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66" y="14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3BEBD1-7E7F-4E25-ED44-A8F080669B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928B5B7-49ED-FBBD-E2F1-13E9E8FC3F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B4731FE-139B-65F8-0AC0-46FB4624E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BBD53-C4EF-48E3-A5B7-A1EDEE63BE25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660E745-B3A7-56EB-B67C-C58BDD92C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04C94E9-B695-CD5B-E8E9-CF2692516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C0C11-C860-4921-9B22-41DC864059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87274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939582-387F-4E99-3D00-9CD7548CB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7611C34-E4C6-5868-A1E3-BD47271A26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7D2EF06-F6A1-AC18-7953-AFD4E1AF3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BBD53-C4EF-48E3-A5B7-A1EDEE63BE25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DC4B65-1A72-180F-4D88-5DA9DB32C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6A195F-3429-2712-A3EF-036AACED3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C0C11-C860-4921-9B22-41DC864059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36204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FD13D8-A644-1569-F81D-99F142F18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133DE70-2DB3-FCF5-4298-8B0848A6F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FC7AADA-8181-74DF-8C2F-68B87AFF0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BBD53-C4EF-48E3-A5B7-A1EDEE63BE25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D5537EC-27A1-199B-8974-B6B92E64A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878A9AB-3145-4FCC-F88C-AA006CEBD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C0C11-C860-4921-9B22-41DC864059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64397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702F40-8026-3ABF-7F8D-8771721A3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00A7DB-30D2-0985-23E4-D80A1FAF6F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A5D227F-1228-FFA9-37EC-8FFB515595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07E85FD-96F9-E6FF-2019-59A1BD40E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BBD53-C4EF-48E3-A5B7-A1EDEE63BE25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380016D-D251-D425-03CA-D8A3524BB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23A8611-E405-E7E5-3212-ADD5CE23F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C0C11-C860-4921-9B22-41DC864059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0994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CA80F2-E456-BD8E-EC5C-188FE4C56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3A77C68-943D-6281-92E5-FD69716BD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E9F9F48-1AC7-8A5C-9E71-EAC6FD8729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E4A2702-6122-4923-000F-F063E6BCA7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9F2924C-419F-3130-D48E-459D70FB01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512CC7E-3A28-9EFA-65BF-9445E5776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BBD53-C4EF-48E3-A5B7-A1EDEE63BE25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736FAFC-5906-6149-FD5C-B3948C198C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6788DED-2EB0-1CAC-0301-E923C939B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C0C11-C860-4921-9B22-41DC864059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8501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5A174E-7B2C-3262-76A1-B1BBB665F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8EB4DB2-84B7-A231-CF02-081C47B77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BBD53-C4EF-48E3-A5B7-A1EDEE63BE25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C8A455A-0190-3D3B-B0F3-E1A11073F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12BC3C2-DE93-9E8C-7193-933EA4A1D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C0C11-C860-4921-9B22-41DC864059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5583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BE2A740-C0B0-A6E6-164D-24EF75467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BBD53-C4EF-48E3-A5B7-A1EDEE63BE25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123760-3FFD-BDD9-2644-1C2290F00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DAE9C07-D08B-0A0E-11EF-E4CCC18AD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C0C11-C860-4921-9B22-41DC864059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1234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636ACE-00CB-2822-D1E9-76AE949637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3CA4567-B34C-EE1D-4573-39F6D5D5CB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408587B-F1B2-D71E-8065-633AF52D5A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5287477-43BC-366B-2682-63037D930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BBD53-C4EF-48E3-A5B7-A1EDEE63BE25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211B169-F0BE-A736-D38B-9F73441B6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6F1E3A6-99AF-D72D-63E8-FA85113FA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C0C11-C860-4921-9B22-41DC864059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8040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94C27D-A3A2-A2B3-8D0B-8FD0C2D6A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7331841-6984-031B-A94D-207C9CC00A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36B2484-13B8-8305-9D83-D73BC06A0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5553C5E-47A2-885A-8697-60AA2A5F8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BBD53-C4EF-48E3-A5B7-A1EDEE63BE25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E02404D-C2BE-D92C-328D-5666B7CA2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E835329-CFEC-BD41-F273-2F88E1CE3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C0C11-C860-4921-9B22-41DC864059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7126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16B54F-B76D-D8E2-1F82-7398A97BA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64713FC-71F0-5AF7-29CB-785F2A7A89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8090FB3-A66A-8CC3-624B-0234A5C28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BBD53-C4EF-48E3-A5B7-A1EDEE63BE25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4D53DD1-22C0-A383-268C-1B8EBB462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B2B6CA-4E8F-44F5-7732-483D7481A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C0C11-C860-4921-9B22-41DC864059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36663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EB5F003-3D7E-6123-7DD0-92FE1ED28D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4A68DE3-310C-9932-DD77-B7660FD4B3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F6BB7AC-A6E9-A07F-EDDC-DBB81C4B9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BBD53-C4EF-48E3-A5B7-A1EDEE63BE25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C7DF29B-328A-A088-4874-15177A230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F25C05-384B-0F2F-B3D8-05E96052A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C0C11-C860-4921-9B22-41DC864059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2253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07C9478-4313-03C7-C4F9-67D20B616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CC0892-0F87-CDFA-73DB-A3BAD74899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EA196F6-D988-BEDE-1259-513C470282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FBBD53-C4EF-48E3-A5B7-A1EDEE63BE25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B98524-CE5E-534A-54DC-AF9C3F0859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6320E8C-AF82-2AF0-DDB9-5ED63E02A8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C0C11-C860-4921-9B22-41DC864059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00356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E2912E6-7A82-14A9-C7EB-881B6892A6DA}"/>
              </a:ext>
            </a:extLst>
          </p:cNvPr>
          <p:cNvSpPr txBox="1"/>
          <p:nvPr/>
        </p:nvSpPr>
        <p:spPr>
          <a:xfrm>
            <a:off x="656204" y="1033173"/>
            <a:ext cx="6248555" cy="5601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 sz="2400" b="1" dirty="0"/>
              <a:t>Digital signal path definition</a:t>
            </a:r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en-US" altLang="zh-CN" sz="2000" dirty="0"/>
              <a:t>In: System design requirement &amp; description</a:t>
            </a:r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en-US" altLang="zh-CN" sz="2000" b="1" dirty="0">
                <a:highlight>
                  <a:srgbClr val="FFFF00"/>
                </a:highlight>
              </a:rPr>
              <a:t>Out: Signal path description document</a:t>
            </a:r>
          </a:p>
          <a:p>
            <a:pPr marL="742950" lvl="1" indent="-285750">
              <a:buFont typeface="Wingdings" panose="05000000000000000000" pitchFamily="2" charset="2"/>
              <a:buChar char="l"/>
            </a:pPr>
            <a:endParaRPr lang="en-US" altLang="zh-CN" sz="2000" dirty="0"/>
          </a:p>
          <a:p>
            <a:pPr marL="342900" indent="-342900">
              <a:buAutoNum type="arabicPeriod"/>
            </a:pPr>
            <a:r>
              <a:rPr lang="en-US" altLang="zh-CN" sz="2400" b="1" dirty="0" err="1"/>
              <a:t>Matlab</a:t>
            </a:r>
            <a:r>
              <a:rPr lang="en-US" altLang="zh-CN" sz="2400" b="1" dirty="0"/>
              <a:t> Simulation</a:t>
            </a:r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en-US" altLang="zh-CN" sz="2000" dirty="0"/>
              <a:t>Out: </a:t>
            </a:r>
            <a:r>
              <a:rPr lang="en-US" altLang="zh-CN" sz="2000" dirty="0" err="1"/>
              <a:t>Matlab</a:t>
            </a:r>
            <a:r>
              <a:rPr lang="en-US" altLang="zh-CN" sz="2000" dirty="0"/>
              <a:t> module and test scripts</a:t>
            </a:r>
          </a:p>
          <a:p>
            <a:pPr marL="742950" lvl="1" indent="-285750">
              <a:buFont typeface="Wingdings" panose="05000000000000000000" pitchFamily="2" charset="2"/>
              <a:buChar char="l"/>
            </a:pPr>
            <a:endParaRPr lang="en-US" altLang="zh-CN" sz="2000" dirty="0"/>
          </a:p>
          <a:p>
            <a:pPr marL="0" lvl="1"/>
            <a:r>
              <a:rPr lang="en-US" altLang="zh-CN" sz="2400" b="1" dirty="0"/>
              <a:t>3. Configuration generation</a:t>
            </a:r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en-US" altLang="zh-CN" sz="2000" b="1" dirty="0">
                <a:highlight>
                  <a:srgbClr val="FFFF00"/>
                </a:highlight>
              </a:rPr>
              <a:t>Out: Profile Generator Rules</a:t>
            </a:r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en-US" altLang="zh-CN" sz="2000" dirty="0"/>
              <a:t>Out: SW profile struct definition, GUI </a:t>
            </a:r>
          </a:p>
          <a:p>
            <a:pPr lvl="1"/>
            <a:endParaRPr lang="en-US" altLang="zh-CN" sz="2000" dirty="0"/>
          </a:p>
          <a:p>
            <a:r>
              <a:rPr lang="en-US" altLang="zh-CN" sz="2400" b="1" dirty="0"/>
              <a:t>4. RTL prototype design</a:t>
            </a:r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en-US" altLang="zh-CN" sz="2000" dirty="0"/>
              <a:t>Out: RTL module and testbench</a:t>
            </a:r>
          </a:p>
          <a:p>
            <a:pPr marL="742950" lvl="1" indent="-285750">
              <a:buFont typeface="Wingdings" panose="05000000000000000000" pitchFamily="2" charset="2"/>
              <a:buChar char="l"/>
            </a:pPr>
            <a:endParaRPr lang="en-US" altLang="zh-CN" sz="2000" dirty="0"/>
          </a:p>
          <a:p>
            <a:r>
              <a:rPr lang="en-US" altLang="zh-CN" sz="2400" b="1" dirty="0"/>
              <a:t>5. FPGA Verification</a:t>
            </a:r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en-US" altLang="zh-CN" sz="2000" dirty="0"/>
              <a:t>HW implementation &amp; verification</a:t>
            </a:r>
          </a:p>
          <a:p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DD42BFF-EBCB-C5FA-831C-BE92B06F31DC}"/>
              </a:ext>
            </a:extLst>
          </p:cNvPr>
          <p:cNvSpPr txBox="1"/>
          <p:nvPr/>
        </p:nvSpPr>
        <p:spPr>
          <a:xfrm>
            <a:off x="493568" y="145472"/>
            <a:ext cx="5127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Overviews</a:t>
            </a:r>
            <a:endParaRPr lang="zh-CN" altLang="en-US" sz="3200" b="1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85219E8-A8D8-9CC5-CF78-F5729ED1C3DC}"/>
              </a:ext>
            </a:extLst>
          </p:cNvPr>
          <p:cNvSpPr/>
          <p:nvPr/>
        </p:nvSpPr>
        <p:spPr>
          <a:xfrm>
            <a:off x="8361218" y="1101438"/>
            <a:ext cx="2176896" cy="628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需求和设计文档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5DA2334-FE02-C7D5-CECE-CB776146A6F7}"/>
              </a:ext>
            </a:extLst>
          </p:cNvPr>
          <p:cNvSpPr/>
          <p:nvPr/>
        </p:nvSpPr>
        <p:spPr>
          <a:xfrm>
            <a:off x="8361218" y="2245737"/>
            <a:ext cx="2176896" cy="628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Matlab</a:t>
            </a:r>
            <a:r>
              <a:rPr lang="zh-CN" altLang="en-US" dirty="0"/>
              <a:t>仿真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9DF89F5-E911-6783-5278-A87BF72098D9}"/>
              </a:ext>
            </a:extLst>
          </p:cNvPr>
          <p:cNvSpPr/>
          <p:nvPr/>
        </p:nvSpPr>
        <p:spPr>
          <a:xfrm>
            <a:off x="8361218" y="4534335"/>
            <a:ext cx="2176896" cy="628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RTL</a:t>
            </a:r>
            <a:r>
              <a:rPr lang="zh-CN" altLang="en-US" dirty="0"/>
              <a:t>原型设计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232B495-4A23-EC3D-19B0-9E77F51F948C}"/>
              </a:ext>
            </a:extLst>
          </p:cNvPr>
          <p:cNvSpPr/>
          <p:nvPr/>
        </p:nvSpPr>
        <p:spPr>
          <a:xfrm>
            <a:off x="8361218" y="5678634"/>
            <a:ext cx="2176896" cy="628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FPGA</a:t>
            </a:r>
            <a:r>
              <a:rPr lang="zh-CN" altLang="en-US" dirty="0"/>
              <a:t>功能验证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0D4B30B-B5B5-33D3-DF11-E1CF879A89F8}"/>
              </a:ext>
            </a:extLst>
          </p:cNvPr>
          <p:cNvSpPr/>
          <p:nvPr/>
        </p:nvSpPr>
        <p:spPr>
          <a:xfrm>
            <a:off x="8361218" y="3390036"/>
            <a:ext cx="2176896" cy="628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自动化配置软件</a:t>
            </a:r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9AFF21FD-7EA4-4982-2CEE-7DA8181C47D0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9449666" y="1730088"/>
            <a:ext cx="0" cy="515649"/>
          </a:xfrm>
          <a:prstGeom prst="straightConnector1">
            <a:avLst/>
          </a:prstGeom>
          <a:ln w="12700"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1F356F9F-1129-4405-AF64-BF495FE02482}"/>
              </a:ext>
            </a:extLst>
          </p:cNvPr>
          <p:cNvCxnSpPr>
            <a:stCxn id="5" idx="2"/>
            <a:endCxn id="8" idx="0"/>
          </p:cNvCxnSpPr>
          <p:nvPr/>
        </p:nvCxnSpPr>
        <p:spPr>
          <a:xfrm>
            <a:off x="9449666" y="2874387"/>
            <a:ext cx="0" cy="515649"/>
          </a:xfrm>
          <a:prstGeom prst="straightConnector1">
            <a:avLst/>
          </a:prstGeom>
          <a:ln w="12700"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8EF4B217-927E-105D-733A-0158833A0B8A}"/>
              </a:ext>
            </a:extLst>
          </p:cNvPr>
          <p:cNvCxnSpPr>
            <a:stCxn id="8" idx="2"/>
            <a:endCxn id="6" idx="0"/>
          </p:cNvCxnSpPr>
          <p:nvPr/>
        </p:nvCxnSpPr>
        <p:spPr>
          <a:xfrm>
            <a:off x="9449666" y="4018686"/>
            <a:ext cx="0" cy="515649"/>
          </a:xfrm>
          <a:prstGeom prst="straightConnector1">
            <a:avLst/>
          </a:prstGeom>
          <a:ln w="12700"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913A6C8B-7343-71BB-F0C3-3377C285DB76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9449666" y="5162985"/>
            <a:ext cx="0" cy="515649"/>
          </a:xfrm>
          <a:prstGeom prst="straightConnector1">
            <a:avLst/>
          </a:prstGeom>
          <a:ln w="12700"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1888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47B0188-ACAD-4A5B-98AB-4351DCF99972}"/>
              </a:ext>
            </a:extLst>
          </p:cNvPr>
          <p:cNvSpPr txBox="1"/>
          <p:nvPr/>
        </p:nvSpPr>
        <p:spPr>
          <a:xfrm>
            <a:off x="493568" y="145472"/>
            <a:ext cx="5127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1. Signal Path Description</a:t>
            </a:r>
            <a:endParaRPr lang="zh-CN" altLang="en-US" sz="3200" b="1" dirty="0"/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C75A23AA-1ED5-6A56-6472-A67A39E197F6}"/>
              </a:ext>
            </a:extLst>
          </p:cNvPr>
          <p:cNvGrpSpPr/>
          <p:nvPr/>
        </p:nvGrpSpPr>
        <p:grpSpPr>
          <a:xfrm>
            <a:off x="493568" y="1313927"/>
            <a:ext cx="5945830" cy="5309483"/>
            <a:chOff x="538989" y="1248613"/>
            <a:chExt cx="5945830" cy="5309483"/>
          </a:xfrm>
        </p:grpSpPr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AEEDCF19-F6EF-B346-9B61-46C27A9A49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63294" y="3362044"/>
              <a:ext cx="5721525" cy="1480322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EDC72A50-6F6F-FE28-DFF6-54D571AB5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0745" y="1248613"/>
              <a:ext cx="5399407" cy="1762316"/>
            </a:xfrm>
            <a:prstGeom prst="rect">
              <a:avLst/>
            </a:prstGeom>
          </p:spPr>
        </p:pic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B1A4E717-3D75-CEFA-7E4E-C24E2EE359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63294" y="5193481"/>
              <a:ext cx="5274310" cy="1364615"/>
            </a:xfrm>
            <a:prstGeom prst="rect">
              <a:avLst/>
            </a:prstGeom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FA89459C-D642-6941-D158-E23C8E747CF0}"/>
                </a:ext>
              </a:extLst>
            </p:cNvPr>
            <p:cNvSpPr txBox="1"/>
            <p:nvPr/>
          </p:nvSpPr>
          <p:spPr>
            <a:xfrm>
              <a:off x="538989" y="1729661"/>
              <a:ext cx="45397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Tx</a:t>
              </a:r>
              <a:endParaRPr lang="zh-CN" altLang="en-US" b="1" dirty="0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3880D267-7E2D-2A21-26D2-D77E7AD42035}"/>
                </a:ext>
              </a:extLst>
            </p:cNvPr>
            <p:cNvSpPr txBox="1"/>
            <p:nvPr/>
          </p:nvSpPr>
          <p:spPr>
            <a:xfrm>
              <a:off x="538989" y="3902150"/>
              <a:ext cx="4732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Rx</a:t>
              </a:r>
              <a:endParaRPr lang="zh-CN" altLang="en-US" b="1" dirty="0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2532E41B-0350-7922-BC1A-6260BB6C8AD2}"/>
                </a:ext>
              </a:extLst>
            </p:cNvPr>
            <p:cNvSpPr txBox="1"/>
            <p:nvPr/>
          </p:nvSpPr>
          <p:spPr>
            <a:xfrm>
              <a:off x="548607" y="5681927"/>
              <a:ext cx="66717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ORx</a:t>
              </a:r>
              <a:endParaRPr lang="zh-CN" altLang="en-US" b="1" dirty="0"/>
            </a:p>
          </p:txBody>
        </p:sp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E78E872B-BB06-14C9-4BF7-75ECAFE7DA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9398" y="437859"/>
            <a:ext cx="5634010" cy="434715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9FA6E53-E350-CEE9-252C-B3FC411D6501}"/>
              </a:ext>
            </a:extLst>
          </p:cNvPr>
          <p:cNvSpPr txBox="1"/>
          <p:nvPr/>
        </p:nvSpPr>
        <p:spPr>
          <a:xfrm>
            <a:off x="6439398" y="4907680"/>
            <a:ext cx="50893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 dirty="0">
                <a:highlight>
                  <a:srgbClr val="FFFF00"/>
                </a:highlight>
              </a:rPr>
              <a:t>Components in signal path</a:t>
            </a:r>
          </a:p>
          <a:p>
            <a:pPr marL="342900" indent="-342900">
              <a:buAutoNum type="arabicPeriod"/>
            </a:pPr>
            <a:r>
              <a:rPr lang="en-US" altLang="zh-CN" dirty="0">
                <a:highlight>
                  <a:srgbClr val="FFFF00"/>
                </a:highlight>
              </a:rPr>
              <a:t>Profile generator Rules</a:t>
            </a:r>
          </a:p>
          <a:p>
            <a:pPr marL="342900" indent="-342900">
              <a:buAutoNum type="arabicPeriod"/>
            </a:pPr>
            <a:r>
              <a:rPr lang="en-US" altLang="zh-CN" dirty="0"/>
              <a:t>Path selection based on Rules and params </a:t>
            </a:r>
          </a:p>
        </p:txBody>
      </p:sp>
    </p:spTree>
    <p:extLst>
      <p:ext uri="{BB962C8B-B14F-4D97-AF65-F5344CB8AC3E}">
        <p14:creationId xmlns:p14="http://schemas.microsoft.com/office/powerpoint/2010/main" val="776305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DB6EBF5-C01B-6999-6B9B-E5938C8296E8}"/>
              </a:ext>
            </a:extLst>
          </p:cNvPr>
          <p:cNvSpPr txBox="1"/>
          <p:nvPr/>
        </p:nvSpPr>
        <p:spPr>
          <a:xfrm>
            <a:off x="493568" y="145472"/>
            <a:ext cx="5127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2. </a:t>
            </a:r>
            <a:r>
              <a:rPr lang="en-US" altLang="zh-CN" sz="3200" b="1" dirty="0" err="1"/>
              <a:t>Matlab</a:t>
            </a:r>
            <a:r>
              <a:rPr lang="en-US" altLang="zh-CN" sz="3200" b="1" dirty="0"/>
              <a:t> Simulation</a:t>
            </a:r>
            <a:endParaRPr lang="zh-CN" altLang="en-US" sz="3200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5AB8A33-DC00-BCEC-EEE7-14DE286B8C73}"/>
              </a:ext>
            </a:extLst>
          </p:cNvPr>
          <p:cNvSpPr txBox="1"/>
          <p:nvPr/>
        </p:nvSpPr>
        <p:spPr>
          <a:xfrm>
            <a:off x="656203" y="1033173"/>
            <a:ext cx="9776269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 sz="2400" b="1" dirty="0"/>
              <a:t>Tx path</a:t>
            </a:r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en-US" altLang="zh-CN" sz="2000" dirty="0"/>
              <a:t>Top: </a:t>
            </a:r>
            <a:r>
              <a:rPr lang="en-US" altLang="zh-CN" sz="2000" dirty="0" err="1"/>
              <a:t>tx_dpath.m</a:t>
            </a:r>
            <a:endParaRPr lang="en-US" altLang="zh-CN" sz="2000" dirty="0"/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en-US" altLang="zh-CN" sz="2000" dirty="0"/>
              <a:t>submodules: </a:t>
            </a:r>
            <a:r>
              <a:rPr lang="en-US" altLang="zh-CN" sz="2000" dirty="0" err="1"/>
              <a:t>tfir_filter.m</a:t>
            </a:r>
            <a:r>
              <a:rPr lang="en-US" altLang="zh-CN" sz="2000" dirty="0"/>
              <a:t>, thb1_filter.m, </a:t>
            </a:r>
          </a:p>
          <a:p>
            <a:pPr lvl="1"/>
            <a:r>
              <a:rPr lang="en-US" altLang="zh-CN" sz="2000" dirty="0"/>
              <a:t>		thb2_filter.m, thb3_filter.m, int5_filter.m</a:t>
            </a:r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en-US" altLang="zh-CN" sz="2000" dirty="0"/>
              <a:t>Testbench: </a:t>
            </a:r>
            <a:r>
              <a:rPr lang="en-US" altLang="zh-CN" sz="2000" dirty="0" err="1"/>
              <a:t>test_rx_dpath.m</a:t>
            </a:r>
            <a:endParaRPr lang="en-US" altLang="zh-CN" sz="2000" dirty="0"/>
          </a:p>
          <a:p>
            <a:pPr marL="742950" lvl="1" indent="-285750">
              <a:buFont typeface="Wingdings" panose="05000000000000000000" pitchFamily="2" charset="2"/>
              <a:buChar char="l"/>
            </a:pPr>
            <a:endParaRPr lang="en-US" altLang="zh-CN" sz="2000" dirty="0"/>
          </a:p>
          <a:p>
            <a:pPr marL="342900" indent="-342900">
              <a:buAutoNum type="arabicPeriod"/>
            </a:pPr>
            <a:r>
              <a:rPr lang="en-US" altLang="zh-CN" sz="2400" b="1" dirty="0"/>
              <a:t>Rx path</a:t>
            </a:r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en-US" altLang="zh-CN" sz="2000" dirty="0"/>
              <a:t>Top: </a:t>
            </a:r>
            <a:r>
              <a:rPr lang="en-US" altLang="zh-CN" sz="2000" dirty="0" err="1"/>
              <a:t>rx_dpath.m</a:t>
            </a:r>
            <a:endParaRPr lang="en-US" altLang="zh-CN" sz="2000" dirty="0"/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en-US" altLang="zh-CN" sz="2000" dirty="0"/>
              <a:t>Submodules: rx_dec5_filter.m, rx_fir1.m, rx_fir2.m,</a:t>
            </a:r>
          </a:p>
          <a:p>
            <a:pPr lvl="1"/>
            <a:r>
              <a:rPr lang="en-US" altLang="zh-CN" sz="2000" dirty="0"/>
              <a:t>	             rx_rhb2_filter.m, rx_rhb3_filter.m, </a:t>
            </a:r>
            <a:r>
              <a:rPr lang="en-US" altLang="zh-CN" sz="2000" dirty="0" err="1"/>
              <a:t>rx_hr_filter.m</a:t>
            </a:r>
            <a:r>
              <a:rPr lang="en-US" altLang="zh-CN" sz="2000" dirty="0"/>
              <a:t>, </a:t>
            </a:r>
            <a:r>
              <a:rPr lang="en-US" altLang="zh-CN" sz="2000" dirty="0" err="1"/>
              <a:t>rx_lp_filter.m</a:t>
            </a:r>
            <a:r>
              <a:rPr lang="en-US" altLang="zh-CN" sz="2000" dirty="0"/>
              <a:t> </a:t>
            </a:r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en-US" altLang="zh-CN" sz="2000" dirty="0"/>
              <a:t>Testbench: </a:t>
            </a:r>
            <a:r>
              <a:rPr lang="en-US" altLang="zh-CN" sz="2000" dirty="0" err="1"/>
              <a:t>test_rx_dpath.m</a:t>
            </a:r>
            <a:endParaRPr lang="en-US" altLang="zh-CN" sz="2000" dirty="0"/>
          </a:p>
          <a:p>
            <a:pPr marL="742950" lvl="1" indent="-285750">
              <a:buFont typeface="Wingdings" panose="05000000000000000000" pitchFamily="2" charset="2"/>
              <a:buChar char="l"/>
            </a:pPr>
            <a:endParaRPr lang="en-US" altLang="zh-CN" sz="2000" dirty="0"/>
          </a:p>
          <a:p>
            <a:pPr marL="342900" indent="-342900">
              <a:buAutoNum type="arabicPeriod"/>
            </a:pPr>
            <a:r>
              <a:rPr lang="en-US" altLang="zh-CN" sz="2400" b="1" dirty="0"/>
              <a:t>ORx Path (skip)</a:t>
            </a:r>
            <a:endParaRPr lang="zh-CN" altLang="en-US" sz="2400" b="1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D375B29-846D-D41A-31C0-347E3E71D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8385" y="4836616"/>
            <a:ext cx="7013527" cy="179797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06A1556-01F9-78E4-3773-A20710A72A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3816" y="509154"/>
            <a:ext cx="5226621" cy="317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437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AABFBE3B-4580-E34F-7266-FF1D74587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6940" y="2978332"/>
            <a:ext cx="5455484" cy="3481413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07DC78AE-6A01-1BCF-0B4A-A55D6A8EF5EE}"/>
              </a:ext>
            </a:extLst>
          </p:cNvPr>
          <p:cNvSpPr txBox="1"/>
          <p:nvPr/>
        </p:nvSpPr>
        <p:spPr>
          <a:xfrm>
            <a:off x="493568" y="145472"/>
            <a:ext cx="56942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3. Configuration GUI</a:t>
            </a:r>
            <a:endParaRPr lang="zh-CN" altLang="en-US" sz="3200" b="1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BF99CB2-62B0-6340-A94B-314FAB8826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77" y="2140377"/>
            <a:ext cx="5460246" cy="3476651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90A068A2-0264-A0D9-ECB1-3503A8DA1C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568" y="1129938"/>
            <a:ext cx="5445959" cy="3476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3276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B8447A6-0A99-23A7-9D5D-F664844925CD}"/>
              </a:ext>
            </a:extLst>
          </p:cNvPr>
          <p:cNvSpPr txBox="1"/>
          <p:nvPr/>
        </p:nvSpPr>
        <p:spPr>
          <a:xfrm>
            <a:off x="493568" y="145472"/>
            <a:ext cx="56942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4. RTL prototype design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17ECD40-EF29-7829-7035-692718397C2C}"/>
              </a:ext>
            </a:extLst>
          </p:cNvPr>
          <p:cNvSpPr txBox="1"/>
          <p:nvPr/>
        </p:nvSpPr>
        <p:spPr>
          <a:xfrm>
            <a:off x="656203" y="1033173"/>
            <a:ext cx="8076317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 sz="2400" dirty="0"/>
              <a:t>Design: </a:t>
            </a:r>
            <a:r>
              <a:rPr lang="en-US" altLang="zh-CN" sz="2400" dirty="0" err="1"/>
              <a:t>rtl</a:t>
            </a:r>
            <a:endParaRPr lang="en-US" altLang="zh-CN" sz="2000" dirty="0"/>
          </a:p>
          <a:p>
            <a:pPr marL="342900" indent="-342900">
              <a:buAutoNum type="arabicPeriod"/>
            </a:pPr>
            <a:r>
              <a:rPr lang="en-US" altLang="zh-CN" sz="2400" dirty="0"/>
              <a:t>Testbench: tb</a:t>
            </a:r>
            <a:endParaRPr lang="en-US" altLang="zh-CN" sz="2000" dirty="0"/>
          </a:p>
          <a:p>
            <a:pPr marL="342900" indent="-342900">
              <a:buAutoNum type="arabicPeriod"/>
            </a:pPr>
            <a:r>
              <a:rPr lang="en-US" altLang="zh-CN" sz="2400" dirty="0"/>
              <a:t>Scripts</a:t>
            </a:r>
          </a:p>
          <a:p>
            <a:r>
              <a:rPr lang="en-US" altLang="zh-CN" sz="2000" b="1" dirty="0"/>
              <a:t>Run </a:t>
            </a:r>
            <a:r>
              <a:rPr lang="en-US" altLang="zh-CN" sz="2000" b="1" dirty="0" err="1"/>
              <a:t>test_tx_path_rtl_compare.m</a:t>
            </a:r>
            <a:r>
              <a:rPr lang="en-US" altLang="zh-CN" sz="2000" b="1" dirty="0"/>
              <a:t> to check RTL simulation result</a:t>
            </a:r>
            <a:endParaRPr lang="zh-CN" altLang="en-US" sz="2000" b="1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B870DB0-810A-42E5-0F6A-8918257AEC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4032" y="901335"/>
            <a:ext cx="2996880" cy="589134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FCF42454-E272-76E1-2796-7FF071ACFC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005" y="2734683"/>
            <a:ext cx="5463821" cy="3977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8026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AC3DB777-4EC3-A41C-AB31-CF835D7CE3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765" y="1371602"/>
            <a:ext cx="9144470" cy="5400953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B5194F31-DEAF-B5FA-25A6-870ED3B6D617}"/>
              </a:ext>
            </a:extLst>
          </p:cNvPr>
          <p:cNvSpPr txBox="1"/>
          <p:nvPr/>
        </p:nvSpPr>
        <p:spPr>
          <a:xfrm>
            <a:off x="493568" y="145472"/>
            <a:ext cx="56942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4. RTL prototype design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384E75A-9936-EB08-30D5-4968D8A3B952}"/>
              </a:ext>
            </a:extLst>
          </p:cNvPr>
          <p:cNvSpPr txBox="1"/>
          <p:nvPr/>
        </p:nvSpPr>
        <p:spPr>
          <a:xfrm>
            <a:off x="1407317" y="971492"/>
            <a:ext cx="80763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/>
              <a:t>Simulation Waveforms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37762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D5A8429-E2E2-3D5D-2757-336DC5E2A1C4}"/>
              </a:ext>
            </a:extLst>
          </p:cNvPr>
          <p:cNvSpPr txBox="1"/>
          <p:nvPr/>
        </p:nvSpPr>
        <p:spPr>
          <a:xfrm>
            <a:off x="493568" y="145472"/>
            <a:ext cx="5127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5. FPGA Verification</a:t>
            </a:r>
            <a:endParaRPr lang="zh-CN" altLang="en-US" sz="3200" b="1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BDE4DBF6-0801-0DC3-0EC1-2A335A01F0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338" y="1247503"/>
            <a:ext cx="9144470" cy="5400953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EB7CC1F9-1FF1-2DCC-3EE9-40C99F14ED65}"/>
              </a:ext>
            </a:extLst>
          </p:cNvPr>
          <p:cNvSpPr txBox="1"/>
          <p:nvPr/>
        </p:nvSpPr>
        <p:spPr>
          <a:xfrm>
            <a:off x="832848" y="878171"/>
            <a:ext cx="8076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Synth pass, good for FPGA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2544595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650</TotalTime>
  <Words>284</Words>
  <Application>Microsoft Office PowerPoint</Application>
  <PresentationFormat>宽屏</PresentationFormat>
  <Paragraphs>53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2" baseType="lpstr">
      <vt:lpstr>等线</vt:lpstr>
      <vt:lpstr>等线 Light</vt:lpstr>
      <vt:lpstr>Arial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Yalong Xu</dc:creator>
  <cp:lastModifiedBy>Yalong Xu</cp:lastModifiedBy>
  <cp:revision>19</cp:revision>
  <dcterms:created xsi:type="dcterms:W3CDTF">2026-04-20T01:17:08Z</dcterms:created>
  <dcterms:modified xsi:type="dcterms:W3CDTF">2026-04-21T07:14:10Z</dcterms:modified>
</cp:coreProperties>
</file>