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64" r:id="rId4"/>
    <p:sldId id="265" r:id="rId5"/>
    <p:sldId id="266" r:id="rId6"/>
    <p:sldId id="267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6" y="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3BEBD1-7E7F-4E25-ED44-A8F080669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28B5B7-49ED-FBBD-E2F1-13E9E8FC3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4731FE-139B-65F8-0AC0-46FB4624E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BD53-C4EF-48E3-A5B7-A1EDEE63BE25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60E745-B3A7-56EB-B67C-C58BDD92C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4C94E9-B695-CD5B-E8E9-CF2692516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C0C11-C860-4921-9B22-41DC86405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727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939582-387F-4E99-3D00-9CD7548CB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611C34-E4C6-5868-A1E3-BD47271A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D2EF06-F6A1-AC18-7953-AFD4E1AF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BD53-C4EF-48E3-A5B7-A1EDEE63BE25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DC4B65-1A72-180F-4D88-5DA9DB32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6A195F-3429-2712-A3EF-036AACED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C0C11-C860-4921-9B22-41DC86405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620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D13D8-A644-1569-F81D-99F142F18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33DE70-2DB3-FCF5-4298-8B0848A6F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C7AADA-8181-74DF-8C2F-68B87AFF0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BD53-C4EF-48E3-A5B7-A1EDEE63BE25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5537EC-27A1-199B-8974-B6B92E64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78A9AB-3145-4FCC-F88C-AA006CEBD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C0C11-C860-4921-9B22-41DC86405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439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702F40-8026-3ABF-7F8D-8771721A3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00A7DB-30D2-0985-23E4-D80A1FAF6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5D227F-1228-FFA9-37EC-8FFB51559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7E85FD-96F9-E6FF-2019-59A1BD40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BD53-C4EF-48E3-A5B7-A1EDEE63BE25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80016D-D251-D425-03CA-D8A3524BB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3A8611-E405-E7E5-3212-ADD5CE23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C0C11-C860-4921-9B22-41DC86405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994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A80F2-E456-BD8E-EC5C-188FE4C5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A77C68-943D-6281-92E5-FD69716BD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9F9F48-1AC7-8A5C-9E71-EAC6FD872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4A2702-6122-4923-000F-F063E6BCA7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F2924C-419F-3130-D48E-459D70FB0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12CC7E-3A28-9EFA-65BF-9445E5776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BD53-C4EF-48E3-A5B7-A1EDEE63BE25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36FAFC-5906-6149-FD5C-B3948C198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6788DED-2EB0-1CAC-0301-E923C939B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C0C11-C860-4921-9B22-41DC86405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50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A174E-7B2C-3262-76A1-B1BBB665F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8EB4DB2-84B7-A231-CF02-081C47B77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BD53-C4EF-48E3-A5B7-A1EDEE63BE25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8A455A-0190-3D3B-B0F3-E1A11073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2BC3C2-DE93-9E8C-7193-933EA4A1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C0C11-C860-4921-9B22-41DC86405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583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E2A740-C0B0-A6E6-164D-24EF75467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BD53-C4EF-48E3-A5B7-A1EDEE63BE25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123760-3FFD-BDD9-2644-1C2290F0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AE9C07-D08B-0A0E-11EF-E4CCC18AD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C0C11-C860-4921-9B22-41DC86405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234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36ACE-00CB-2822-D1E9-76AE9496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CA4567-B34C-EE1D-4573-39F6D5D5C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08587B-F1B2-D71E-8065-633AF52D5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287477-43BC-366B-2682-63037D930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BD53-C4EF-48E3-A5B7-A1EDEE63BE25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11B169-F0BE-A736-D38B-9F73441B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F1E3A6-99AF-D72D-63E8-FA85113FA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C0C11-C860-4921-9B22-41DC86405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040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94C27D-A3A2-A2B3-8D0B-8FD0C2D6A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331841-6984-031B-A94D-207C9CC00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6B2484-13B8-8305-9D83-D73BC06A0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553C5E-47A2-885A-8697-60AA2A5F8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BD53-C4EF-48E3-A5B7-A1EDEE63BE25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02404D-C2BE-D92C-328D-5666B7CA2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835329-CFEC-BD41-F273-2F88E1CE3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C0C11-C860-4921-9B22-41DC86405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12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6B54F-B76D-D8E2-1F82-7398A97B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4713FC-71F0-5AF7-29CB-785F2A7A8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090FB3-A66A-8CC3-624B-0234A5C28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BD53-C4EF-48E3-A5B7-A1EDEE63BE25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D53DD1-22C0-A383-268C-1B8EBB462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B2B6CA-4E8F-44F5-7732-483D7481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C0C11-C860-4921-9B22-41DC86405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66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EB5F003-3D7E-6123-7DD0-92FE1ED28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A68DE3-310C-9932-DD77-B7660FD4B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6BB7AC-A6E9-A07F-EDDC-DBB81C4B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BD53-C4EF-48E3-A5B7-A1EDEE63BE25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7DF29B-328A-A088-4874-15177A230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25C05-384B-0F2F-B3D8-05E96052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C0C11-C860-4921-9B22-41DC86405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253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7C9478-4313-03C7-C4F9-67D20B616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CC0892-0F87-CDFA-73DB-A3BAD7489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A196F6-D988-BEDE-1259-513C470282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BBD53-C4EF-48E3-A5B7-A1EDEE63BE25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B98524-CE5E-534A-54DC-AF9C3F085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320E8C-AF82-2AF0-DDB9-5ED63E02A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C0C11-C860-4921-9B22-41DC86405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03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2912E6-7A82-14A9-C7EB-881B6892A6DA}"/>
              </a:ext>
            </a:extLst>
          </p:cNvPr>
          <p:cNvSpPr txBox="1"/>
          <p:nvPr/>
        </p:nvSpPr>
        <p:spPr>
          <a:xfrm>
            <a:off x="656204" y="1033173"/>
            <a:ext cx="6248555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2400" b="1" dirty="0"/>
              <a:t>Digital signal path definition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2000" dirty="0"/>
              <a:t>In: System design requirement &amp; description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2000" b="1" dirty="0">
                <a:highlight>
                  <a:srgbClr val="FFFF00"/>
                </a:highlight>
              </a:rPr>
              <a:t>Out: Signal path description document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AutoNum type="arabicPeriod"/>
            </a:pPr>
            <a:r>
              <a:rPr lang="en-US" altLang="zh-CN" sz="2400" b="1" dirty="0" err="1"/>
              <a:t>Matlab</a:t>
            </a:r>
            <a:r>
              <a:rPr lang="en-US" altLang="zh-CN" sz="2400" b="1" dirty="0"/>
              <a:t> Simulation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2000" dirty="0"/>
              <a:t>Out: </a:t>
            </a:r>
            <a:r>
              <a:rPr lang="en-US" altLang="zh-CN" sz="2000" dirty="0" err="1"/>
              <a:t>Matlab</a:t>
            </a:r>
            <a:r>
              <a:rPr lang="en-US" altLang="zh-CN" sz="2000" dirty="0"/>
              <a:t> module and test scripts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0" lvl="1"/>
            <a:r>
              <a:rPr lang="en-US" altLang="zh-CN" sz="2400" b="1" dirty="0"/>
              <a:t>3. Configuration generation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2000" b="1" dirty="0">
                <a:highlight>
                  <a:srgbClr val="FFFF00"/>
                </a:highlight>
              </a:rPr>
              <a:t>Out: Profile Generator Rules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2000" dirty="0"/>
              <a:t>Out: SW profile struct definition, GUI </a:t>
            </a:r>
          </a:p>
          <a:p>
            <a:pPr lvl="1"/>
            <a:endParaRPr lang="en-US" altLang="zh-CN" sz="2000" dirty="0"/>
          </a:p>
          <a:p>
            <a:r>
              <a:rPr lang="en-US" altLang="zh-CN" sz="2400" b="1" dirty="0"/>
              <a:t>4. RTL prototype design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2000" dirty="0"/>
              <a:t>Out: RTL module and testbench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r>
              <a:rPr lang="en-US" altLang="zh-CN" sz="2400" b="1" dirty="0"/>
              <a:t>5. FPGA Verification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2000" dirty="0"/>
              <a:t>HW implementation &amp; verification</a:t>
            </a: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D42BFF-EBCB-C5FA-831C-BE92B06F31DC}"/>
              </a:ext>
            </a:extLst>
          </p:cNvPr>
          <p:cNvSpPr txBox="1"/>
          <p:nvPr/>
        </p:nvSpPr>
        <p:spPr>
          <a:xfrm>
            <a:off x="493568" y="145472"/>
            <a:ext cx="5127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Overviews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101888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47B0188-ACAD-4A5B-98AB-4351DCF99972}"/>
              </a:ext>
            </a:extLst>
          </p:cNvPr>
          <p:cNvSpPr txBox="1"/>
          <p:nvPr/>
        </p:nvSpPr>
        <p:spPr>
          <a:xfrm>
            <a:off x="493568" y="145472"/>
            <a:ext cx="5127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1. Signal Path Description</a:t>
            </a:r>
            <a:endParaRPr lang="zh-CN" altLang="en-US" sz="32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75A23AA-1ED5-6A56-6472-A67A39E197F6}"/>
              </a:ext>
            </a:extLst>
          </p:cNvPr>
          <p:cNvGrpSpPr/>
          <p:nvPr/>
        </p:nvGrpSpPr>
        <p:grpSpPr>
          <a:xfrm>
            <a:off x="493568" y="1313927"/>
            <a:ext cx="5945830" cy="5309483"/>
            <a:chOff x="538989" y="1248613"/>
            <a:chExt cx="5945830" cy="5309483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AEEDCF19-F6EF-B346-9B61-46C27A9A4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3294" y="3362044"/>
              <a:ext cx="5721525" cy="1480322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EDC72A50-6F6F-FE28-DFF6-54D571AB5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0745" y="1248613"/>
              <a:ext cx="5399407" cy="1762316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B1A4E717-3D75-CEFA-7E4E-C24E2EE35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3294" y="5193481"/>
              <a:ext cx="5274310" cy="1364615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A89459C-D642-6941-D158-E23C8E747CF0}"/>
                </a:ext>
              </a:extLst>
            </p:cNvPr>
            <p:cNvSpPr txBox="1"/>
            <p:nvPr/>
          </p:nvSpPr>
          <p:spPr>
            <a:xfrm>
              <a:off x="538989" y="1729661"/>
              <a:ext cx="4539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Tx</a:t>
              </a:r>
              <a:endParaRPr lang="zh-CN" altLang="en-US" b="1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880D267-7E2D-2A21-26D2-D77E7AD42035}"/>
                </a:ext>
              </a:extLst>
            </p:cNvPr>
            <p:cNvSpPr txBox="1"/>
            <p:nvPr/>
          </p:nvSpPr>
          <p:spPr>
            <a:xfrm>
              <a:off x="538989" y="3902150"/>
              <a:ext cx="4732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Rx</a:t>
              </a:r>
              <a:endParaRPr lang="zh-CN" altLang="en-US" b="1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532E41B-0350-7922-BC1A-6260BB6C8AD2}"/>
                </a:ext>
              </a:extLst>
            </p:cNvPr>
            <p:cNvSpPr txBox="1"/>
            <p:nvPr/>
          </p:nvSpPr>
          <p:spPr>
            <a:xfrm>
              <a:off x="548607" y="5681927"/>
              <a:ext cx="667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ORx</a:t>
              </a:r>
              <a:endParaRPr lang="zh-CN" altLang="en-US" b="1" dirty="0"/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78E872B-BB06-14C9-4BF7-75ECAFE7D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398" y="437859"/>
            <a:ext cx="5634010" cy="434715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9FA6E53-E350-CEE9-252C-B3FC411D6501}"/>
              </a:ext>
            </a:extLst>
          </p:cNvPr>
          <p:cNvSpPr txBox="1"/>
          <p:nvPr/>
        </p:nvSpPr>
        <p:spPr>
          <a:xfrm>
            <a:off x="6439398" y="4907680"/>
            <a:ext cx="50893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>
                <a:highlight>
                  <a:srgbClr val="FFFF00"/>
                </a:highlight>
              </a:rPr>
              <a:t>Components in signal path</a:t>
            </a:r>
          </a:p>
          <a:p>
            <a:pPr marL="342900" indent="-342900">
              <a:buAutoNum type="arabicPeriod"/>
            </a:pPr>
            <a:r>
              <a:rPr lang="en-US" altLang="zh-CN" dirty="0">
                <a:highlight>
                  <a:srgbClr val="FFFF00"/>
                </a:highlight>
              </a:rPr>
              <a:t>Profile generator Rules</a:t>
            </a:r>
          </a:p>
          <a:p>
            <a:pPr marL="342900" indent="-342900">
              <a:buAutoNum type="arabicPeriod"/>
            </a:pPr>
            <a:r>
              <a:rPr lang="en-US" altLang="zh-CN" dirty="0"/>
              <a:t>Path selection based on Rules and params </a:t>
            </a:r>
          </a:p>
        </p:txBody>
      </p:sp>
    </p:spTree>
    <p:extLst>
      <p:ext uri="{BB962C8B-B14F-4D97-AF65-F5344CB8AC3E}">
        <p14:creationId xmlns:p14="http://schemas.microsoft.com/office/powerpoint/2010/main" val="776305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DB6EBF5-C01B-6999-6B9B-E5938C8296E8}"/>
              </a:ext>
            </a:extLst>
          </p:cNvPr>
          <p:cNvSpPr txBox="1"/>
          <p:nvPr/>
        </p:nvSpPr>
        <p:spPr>
          <a:xfrm>
            <a:off x="493568" y="145472"/>
            <a:ext cx="5127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2. </a:t>
            </a:r>
            <a:r>
              <a:rPr lang="en-US" altLang="zh-CN" sz="3200" b="1" dirty="0" err="1"/>
              <a:t>Matlab</a:t>
            </a:r>
            <a:r>
              <a:rPr lang="en-US" altLang="zh-CN" sz="3200" b="1" dirty="0"/>
              <a:t> Simulation</a:t>
            </a:r>
            <a:endParaRPr lang="zh-CN" altLang="en-US" sz="32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AB8A33-DC00-BCEC-EEE7-14DE286B8C73}"/>
              </a:ext>
            </a:extLst>
          </p:cNvPr>
          <p:cNvSpPr txBox="1"/>
          <p:nvPr/>
        </p:nvSpPr>
        <p:spPr>
          <a:xfrm>
            <a:off x="656203" y="1033173"/>
            <a:ext cx="977626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2400" b="1" dirty="0"/>
              <a:t>Tx path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2000" dirty="0"/>
              <a:t>Top: </a:t>
            </a:r>
            <a:r>
              <a:rPr lang="en-US" altLang="zh-CN" sz="2000" dirty="0" err="1"/>
              <a:t>tx_dpath.m</a:t>
            </a:r>
            <a:endParaRPr lang="en-US" altLang="zh-CN" sz="2000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2000" dirty="0"/>
              <a:t>submodules: </a:t>
            </a:r>
            <a:r>
              <a:rPr lang="en-US" altLang="zh-CN" sz="2000" dirty="0" err="1"/>
              <a:t>tfir_filter.m</a:t>
            </a:r>
            <a:r>
              <a:rPr lang="en-US" altLang="zh-CN" sz="2000" dirty="0"/>
              <a:t>, thb1_filter.m, </a:t>
            </a:r>
          </a:p>
          <a:p>
            <a:pPr lvl="1"/>
            <a:r>
              <a:rPr lang="en-US" altLang="zh-CN" sz="2000" dirty="0"/>
              <a:t>		thb2_filter.m, thb3_filter.m, int5_filter.m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2000" dirty="0"/>
              <a:t>Testbench: </a:t>
            </a:r>
            <a:r>
              <a:rPr lang="en-US" altLang="zh-CN" sz="2000" dirty="0" err="1"/>
              <a:t>test_rx_dpath.m</a:t>
            </a:r>
            <a:endParaRPr lang="en-US" altLang="zh-CN" sz="2000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AutoNum type="arabicPeriod"/>
            </a:pPr>
            <a:r>
              <a:rPr lang="en-US" altLang="zh-CN" sz="2400" b="1" dirty="0"/>
              <a:t>Rx path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2000" dirty="0"/>
              <a:t>Top: </a:t>
            </a:r>
            <a:r>
              <a:rPr lang="en-US" altLang="zh-CN" sz="2000" dirty="0" err="1"/>
              <a:t>rx_dpath.m</a:t>
            </a:r>
            <a:endParaRPr lang="en-US" altLang="zh-CN" sz="2000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2000" dirty="0"/>
              <a:t>Submodules: rx_dec5_filter.m, rx_fir1.m, rx_fir2.m,</a:t>
            </a:r>
          </a:p>
          <a:p>
            <a:pPr lvl="1"/>
            <a:r>
              <a:rPr lang="en-US" altLang="zh-CN" sz="2000" dirty="0"/>
              <a:t>	             rx_rhb2_filter.m, rx_rhb3_filter.m, </a:t>
            </a:r>
            <a:r>
              <a:rPr lang="en-US" altLang="zh-CN" sz="2000" dirty="0" err="1"/>
              <a:t>rx_hr_filter.m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rx_lp_filter.m</a:t>
            </a:r>
            <a:r>
              <a:rPr lang="en-US" altLang="zh-CN" sz="2000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2000" dirty="0"/>
              <a:t>Testbench: </a:t>
            </a:r>
            <a:r>
              <a:rPr lang="en-US" altLang="zh-CN" sz="2000" dirty="0" err="1"/>
              <a:t>test_rx_dpath.m</a:t>
            </a:r>
            <a:endParaRPr lang="en-US" altLang="zh-CN" sz="2000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AutoNum type="arabicPeriod"/>
            </a:pPr>
            <a:r>
              <a:rPr lang="en-US" altLang="zh-CN" sz="2400" b="1" dirty="0"/>
              <a:t>ORx Path (skip)</a:t>
            </a:r>
            <a:endParaRPr lang="zh-CN" altLang="en-US" sz="2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375B29-846D-D41A-31C0-347E3E71D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385" y="4836616"/>
            <a:ext cx="7013527" cy="179797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06A1556-01F9-78E4-3773-A20710A72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816" y="509154"/>
            <a:ext cx="5226621" cy="317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37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ABFBE3B-4580-E34F-7266-FF1D74587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940" y="2978332"/>
            <a:ext cx="5455484" cy="348141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7DC78AE-6A01-1BCF-0B4A-A55D6A8EF5EE}"/>
              </a:ext>
            </a:extLst>
          </p:cNvPr>
          <p:cNvSpPr txBox="1"/>
          <p:nvPr/>
        </p:nvSpPr>
        <p:spPr>
          <a:xfrm>
            <a:off x="493568" y="145472"/>
            <a:ext cx="5694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3. Configuration GUI</a:t>
            </a:r>
            <a:endParaRPr lang="zh-CN" altLang="en-US" sz="32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F99CB2-62B0-6340-A94B-314FAB882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77" y="2140377"/>
            <a:ext cx="5460246" cy="347665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0A068A2-0264-A0D9-ECB1-3503A8DA1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68" y="1129938"/>
            <a:ext cx="5445959" cy="347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27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B8447A6-0A99-23A7-9D5D-F664844925CD}"/>
              </a:ext>
            </a:extLst>
          </p:cNvPr>
          <p:cNvSpPr txBox="1"/>
          <p:nvPr/>
        </p:nvSpPr>
        <p:spPr>
          <a:xfrm>
            <a:off x="493568" y="145472"/>
            <a:ext cx="5694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4. RTL prototype design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7ECD40-EF29-7829-7035-692718397C2C}"/>
              </a:ext>
            </a:extLst>
          </p:cNvPr>
          <p:cNvSpPr txBox="1"/>
          <p:nvPr/>
        </p:nvSpPr>
        <p:spPr>
          <a:xfrm>
            <a:off x="656203" y="1033173"/>
            <a:ext cx="807631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2400" b="1" dirty="0"/>
              <a:t>Design: </a:t>
            </a:r>
            <a:r>
              <a:rPr lang="en-US" altLang="zh-CN" sz="2400" b="1" dirty="0" err="1"/>
              <a:t>rtl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en-US" altLang="zh-CN" sz="2400" b="1" dirty="0"/>
              <a:t>Testbench: tb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en-US" altLang="zh-CN" sz="2400" b="1" dirty="0"/>
              <a:t>Scripts</a:t>
            </a:r>
          </a:p>
          <a:p>
            <a:r>
              <a:rPr lang="en-US" altLang="zh-CN" sz="2000" b="1" dirty="0"/>
              <a:t>Run </a:t>
            </a:r>
            <a:r>
              <a:rPr lang="en-US" altLang="zh-CN" sz="2000" b="1" dirty="0" err="1"/>
              <a:t>test_tx_path_rtl_compare.m</a:t>
            </a:r>
            <a:r>
              <a:rPr lang="en-US" altLang="zh-CN" sz="2000" b="1" dirty="0"/>
              <a:t> to check RTL simulation result</a:t>
            </a:r>
            <a:endParaRPr lang="zh-CN" altLang="en-US" sz="20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870DB0-810A-42E5-0F6A-8918257AE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032" y="901335"/>
            <a:ext cx="2996880" cy="58913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CF42454-E272-76E1-2796-7FF071ACF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005" y="2734683"/>
            <a:ext cx="5463821" cy="397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02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C3DB777-4EC3-A41C-AB31-CF835D7CE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1371602"/>
            <a:ext cx="9144470" cy="540095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5194F31-DEAF-B5FA-25A6-870ED3B6D617}"/>
              </a:ext>
            </a:extLst>
          </p:cNvPr>
          <p:cNvSpPr txBox="1"/>
          <p:nvPr/>
        </p:nvSpPr>
        <p:spPr>
          <a:xfrm>
            <a:off x="493568" y="145472"/>
            <a:ext cx="5694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4. RTL prototype design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84E75A-9936-EB08-30D5-4968D8A3B952}"/>
              </a:ext>
            </a:extLst>
          </p:cNvPr>
          <p:cNvSpPr txBox="1"/>
          <p:nvPr/>
        </p:nvSpPr>
        <p:spPr>
          <a:xfrm>
            <a:off x="1407317" y="971492"/>
            <a:ext cx="8076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Simulation Waveforms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37762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D5A8429-E2E2-3D5D-2757-336DC5E2A1C4}"/>
              </a:ext>
            </a:extLst>
          </p:cNvPr>
          <p:cNvSpPr txBox="1"/>
          <p:nvPr/>
        </p:nvSpPr>
        <p:spPr>
          <a:xfrm>
            <a:off x="493568" y="145472"/>
            <a:ext cx="5127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5. FPGA Verification</a:t>
            </a:r>
            <a:endParaRPr lang="zh-CN" altLang="en-US" sz="32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DE4DBF6-0801-0DC3-0EC1-2A335A01F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38" y="1247503"/>
            <a:ext cx="9144470" cy="540095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B7CC1F9-1FF1-2DCC-3EE9-40C99F14ED65}"/>
              </a:ext>
            </a:extLst>
          </p:cNvPr>
          <p:cNvSpPr txBox="1"/>
          <p:nvPr/>
        </p:nvSpPr>
        <p:spPr>
          <a:xfrm>
            <a:off x="832848" y="878171"/>
            <a:ext cx="8076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Synth pass, good for FPGA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544595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269</Words>
  <Application>Microsoft Office PowerPoint</Application>
  <PresentationFormat>宽屏</PresentationFormat>
  <Paragraphs>48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Yalong Xu</dc:creator>
  <cp:lastModifiedBy>Yalong Xu</cp:lastModifiedBy>
  <cp:revision>16</cp:revision>
  <dcterms:created xsi:type="dcterms:W3CDTF">2026-04-20T01:17:08Z</dcterms:created>
  <dcterms:modified xsi:type="dcterms:W3CDTF">2026-04-21T06:41:35Z</dcterms:modified>
</cp:coreProperties>
</file>